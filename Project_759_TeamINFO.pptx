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72" r:id="rId5"/>
    <p:sldId id="262" r:id="rId6"/>
    <p:sldId id="263" r:id="rId7"/>
    <p:sldId id="259" r:id="rId8"/>
    <p:sldId id="269" r:id="rId9"/>
    <p:sldId id="260" r:id="rId10"/>
    <p:sldId id="261" r:id="rId11"/>
    <p:sldId id="264" r:id="rId12"/>
    <p:sldId id="270" r:id="rId13"/>
    <p:sldId id="265" r:id="rId14"/>
    <p:sldId id="266" r:id="rId15"/>
    <p:sldId id="267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BF5031-ADD9-4B0C-904F-623B417220CA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0FE555-73EF-4BC4-A708-8CEFE377AB58}">
      <dgm:prSet/>
      <dgm:spPr/>
      <dgm:t>
        <a:bodyPr/>
        <a:lstStyle/>
        <a:p>
          <a:r>
            <a:rPr lang="en-AU" b="1"/>
            <a:t>All tests passed successfully, confirming</a:t>
          </a:r>
          <a:r>
            <a:rPr lang="en-AU"/>
            <a:t>:</a:t>
          </a:r>
          <a:endParaRPr lang="en-US"/>
        </a:p>
      </dgm:t>
    </dgm:pt>
    <dgm:pt modelId="{F58D05AD-EB25-4863-85B7-25A2E6F29B11}" type="parTrans" cxnId="{2F8DFF4E-2121-4ED5-9655-821A8B63512B}">
      <dgm:prSet/>
      <dgm:spPr/>
      <dgm:t>
        <a:bodyPr/>
        <a:lstStyle/>
        <a:p>
          <a:endParaRPr lang="en-US"/>
        </a:p>
      </dgm:t>
    </dgm:pt>
    <dgm:pt modelId="{D6038E2B-224C-4153-9843-2F943A03632B}" type="sibTrans" cxnId="{2F8DFF4E-2121-4ED5-9655-821A8B63512B}">
      <dgm:prSet/>
      <dgm:spPr/>
      <dgm:t>
        <a:bodyPr/>
        <a:lstStyle/>
        <a:p>
          <a:endParaRPr lang="en-US"/>
        </a:p>
      </dgm:t>
    </dgm:pt>
    <dgm:pt modelId="{1452D0F0-EC62-4F74-B2E7-B4B794A3DDDF}">
      <dgm:prSet/>
      <dgm:spPr/>
      <dgm:t>
        <a:bodyPr/>
        <a:lstStyle/>
        <a:p>
          <a:r>
            <a:rPr lang="en-AU"/>
            <a:t>Reliable logic</a:t>
          </a:r>
          <a:endParaRPr lang="en-US"/>
        </a:p>
      </dgm:t>
    </dgm:pt>
    <dgm:pt modelId="{C0A75866-3502-4E0C-85F7-FD863367CEA9}" type="parTrans" cxnId="{37E6181E-16B0-43D8-8E79-0292FBB332BB}">
      <dgm:prSet/>
      <dgm:spPr/>
      <dgm:t>
        <a:bodyPr/>
        <a:lstStyle/>
        <a:p>
          <a:endParaRPr lang="en-US"/>
        </a:p>
      </dgm:t>
    </dgm:pt>
    <dgm:pt modelId="{E69FD51F-047C-407C-AFA7-4D5E2A00DD01}" type="sibTrans" cxnId="{37E6181E-16B0-43D8-8E79-0292FBB332BB}">
      <dgm:prSet/>
      <dgm:spPr/>
      <dgm:t>
        <a:bodyPr/>
        <a:lstStyle/>
        <a:p>
          <a:endParaRPr lang="en-US"/>
        </a:p>
      </dgm:t>
    </dgm:pt>
    <dgm:pt modelId="{277B79EA-DE74-4D10-ACF4-81AB32E9D0F2}">
      <dgm:prSet/>
      <dgm:spPr/>
      <dgm:t>
        <a:bodyPr/>
        <a:lstStyle/>
        <a:p>
          <a:r>
            <a:rPr lang="en-AU"/>
            <a:t>Correct data handling</a:t>
          </a:r>
          <a:endParaRPr lang="en-US"/>
        </a:p>
      </dgm:t>
    </dgm:pt>
    <dgm:pt modelId="{062571EC-4774-402D-AEC7-D4D334135A51}" type="parTrans" cxnId="{18B3B655-C7B8-4AAD-B84C-7F010FD3F960}">
      <dgm:prSet/>
      <dgm:spPr/>
      <dgm:t>
        <a:bodyPr/>
        <a:lstStyle/>
        <a:p>
          <a:endParaRPr lang="en-US"/>
        </a:p>
      </dgm:t>
    </dgm:pt>
    <dgm:pt modelId="{1A29D222-E170-4DB2-BF62-D3E29F899611}" type="sibTrans" cxnId="{18B3B655-C7B8-4AAD-B84C-7F010FD3F960}">
      <dgm:prSet/>
      <dgm:spPr/>
      <dgm:t>
        <a:bodyPr/>
        <a:lstStyle/>
        <a:p>
          <a:endParaRPr lang="en-US"/>
        </a:p>
      </dgm:t>
    </dgm:pt>
    <dgm:pt modelId="{F4E43C43-DF48-4BEA-9539-C5479CFD428F}">
      <dgm:prSet/>
      <dgm:spPr/>
      <dgm:t>
        <a:bodyPr/>
        <a:lstStyle/>
        <a:p>
          <a:r>
            <a:rPr lang="en-AU"/>
            <a:t>Error-free input management</a:t>
          </a:r>
          <a:endParaRPr lang="en-US"/>
        </a:p>
      </dgm:t>
    </dgm:pt>
    <dgm:pt modelId="{E1899821-7461-496D-AD39-6CD17FAAF654}" type="parTrans" cxnId="{54BC55CD-691E-43D7-8651-A3ABB257B500}">
      <dgm:prSet/>
      <dgm:spPr/>
      <dgm:t>
        <a:bodyPr/>
        <a:lstStyle/>
        <a:p>
          <a:endParaRPr lang="en-US"/>
        </a:p>
      </dgm:t>
    </dgm:pt>
    <dgm:pt modelId="{9116943D-23BD-4CF5-8E3F-0D1D3221ED05}" type="sibTrans" cxnId="{54BC55CD-691E-43D7-8651-A3ABB257B500}">
      <dgm:prSet/>
      <dgm:spPr/>
      <dgm:t>
        <a:bodyPr/>
        <a:lstStyle/>
        <a:p>
          <a:endParaRPr lang="en-US"/>
        </a:p>
      </dgm:t>
    </dgm:pt>
    <dgm:pt modelId="{36EFA923-FFB6-6744-89C8-989D9B5D62A6}" type="pres">
      <dgm:prSet presAssocID="{EEBF5031-ADD9-4B0C-904F-623B417220CA}" presName="cycle" presStyleCnt="0">
        <dgm:presLayoutVars>
          <dgm:dir/>
          <dgm:resizeHandles val="exact"/>
        </dgm:presLayoutVars>
      </dgm:prSet>
      <dgm:spPr/>
    </dgm:pt>
    <dgm:pt modelId="{22BD532E-4A11-E745-BD6C-589C10CD7DAB}" type="pres">
      <dgm:prSet presAssocID="{FE0FE555-73EF-4BC4-A708-8CEFE377AB58}" presName="node" presStyleLbl="revTx" presStyleIdx="0" presStyleCnt="1">
        <dgm:presLayoutVars>
          <dgm:bulletEnabled val="1"/>
        </dgm:presLayoutVars>
      </dgm:prSet>
      <dgm:spPr/>
    </dgm:pt>
  </dgm:ptLst>
  <dgm:cxnLst>
    <dgm:cxn modelId="{37E6181E-16B0-43D8-8E79-0292FBB332BB}" srcId="{FE0FE555-73EF-4BC4-A708-8CEFE377AB58}" destId="{1452D0F0-EC62-4F74-B2E7-B4B794A3DDDF}" srcOrd="0" destOrd="0" parTransId="{C0A75866-3502-4E0C-85F7-FD863367CEA9}" sibTransId="{E69FD51F-047C-407C-AFA7-4D5E2A00DD01}"/>
    <dgm:cxn modelId="{B0253D37-0EF3-9C4B-B187-DFE229285960}" type="presOf" srcId="{277B79EA-DE74-4D10-ACF4-81AB32E9D0F2}" destId="{22BD532E-4A11-E745-BD6C-589C10CD7DAB}" srcOrd="0" destOrd="2" presId="urn:microsoft.com/office/officeart/2005/8/layout/cycle1"/>
    <dgm:cxn modelId="{2F8DFF4E-2121-4ED5-9655-821A8B63512B}" srcId="{EEBF5031-ADD9-4B0C-904F-623B417220CA}" destId="{FE0FE555-73EF-4BC4-A708-8CEFE377AB58}" srcOrd="0" destOrd="0" parTransId="{F58D05AD-EB25-4863-85B7-25A2E6F29B11}" sibTransId="{D6038E2B-224C-4153-9843-2F943A03632B}"/>
    <dgm:cxn modelId="{A2D0A251-E856-6049-B485-E09EB9E1DE90}" type="presOf" srcId="{FE0FE555-73EF-4BC4-A708-8CEFE377AB58}" destId="{22BD532E-4A11-E745-BD6C-589C10CD7DAB}" srcOrd="0" destOrd="0" presId="urn:microsoft.com/office/officeart/2005/8/layout/cycle1"/>
    <dgm:cxn modelId="{18B3B655-C7B8-4AAD-B84C-7F010FD3F960}" srcId="{FE0FE555-73EF-4BC4-A708-8CEFE377AB58}" destId="{277B79EA-DE74-4D10-ACF4-81AB32E9D0F2}" srcOrd="1" destOrd="0" parTransId="{062571EC-4774-402D-AEC7-D4D334135A51}" sibTransId="{1A29D222-E170-4DB2-BF62-D3E29F899611}"/>
    <dgm:cxn modelId="{1013F2A8-EBB5-A443-AA31-5B5435723F65}" type="presOf" srcId="{EEBF5031-ADD9-4B0C-904F-623B417220CA}" destId="{36EFA923-FFB6-6744-89C8-989D9B5D62A6}" srcOrd="0" destOrd="0" presId="urn:microsoft.com/office/officeart/2005/8/layout/cycle1"/>
    <dgm:cxn modelId="{54BC55CD-691E-43D7-8651-A3ABB257B500}" srcId="{FE0FE555-73EF-4BC4-A708-8CEFE377AB58}" destId="{F4E43C43-DF48-4BEA-9539-C5479CFD428F}" srcOrd="2" destOrd="0" parTransId="{E1899821-7461-496D-AD39-6CD17FAAF654}" sibTransId="{9116943D-23BD-4CF5-8E3F-0D1D3221ED05}"/>
    <dgm:cxn modelId="{AF8ABCE5-B05E-DE48-B060-9F4B8972D37E}" type="presOf" srcId="{F4E43C43-DF48-4BEA-9539-C5479CFD428F}" destId="{22BD532E-4A11-E745-BD6C-589C10CD7DAB}" srcOrd="0" destOrd="3" presId="urn:microsoft.com/office/officeart/2005/8/layout/cycle1"/>
    <dgm:cxn modelId="{E46175EB-3E01-0143-9DCC-6E36D917465B}" type="presOf" srcId="{1452D0F0-EC62-4F74-B2E7-B4B794A3DDDF}" destId="{22BD532E-4A11-E745-BD6C-589C10CD7DAB}" srcOrd="0" destOrd="1" presId="urn:microsoft.com/office/officeart/2005/8/layout/cycle1"/>
    <dgm:cxn modelId="{B379CDF0-3A68-B343-BADC-1960801E03F5}" type="presParOf" srcId="{36EFA923-FFB6-6744-89C8-989D9B5D62A6}" destId="{22BD532E-4A11-E745-BD6C-589C10CD7DAB}" srcOrd="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A00BD4-D887-4B58-BEFF-0A2D15E05631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2ACE71-1FDB-435D-AE14-16F55F7689C0}">
      <dgm:prSet/>
      <dgm:spPr/>
      <dgm:t>
        <a:bodyPr/>
        <a:lstStyle/>
        <a:p>
          <a:r>
            <a:rPr lang="en-AU"/>
            <a:t>Handling missing or malformed routes.</a:t>
          </a:r>
          <a:endParaRPr lang="en-US"/>
        </a:p>
      </dgm:t>
    </dgm:pt>
    <dgm:pt modelId="{D38D65A0-457B-468D-9323-569CBE67A77C}" type="parTrans" cxnId="{B76526BC-E48E-4E75-8ECF-566B23A34720}">
      <dgm:prSet/>
      <dgm:spPr/>
      <dgm:t>
        <a:bodyPr/>
        <a:lstStyle/>
        <a:p>
          <a:endParaRPr lang="en-US"/>
        </a:p>
      </dgm:t>
    </dgm:pt>
    <dgm:pt modelId="{A237A056-9DCA-4D49-8D5E-C390CDF02BB4}" type="sibTrans" cxnId="{B76526BC-E48E-4E75-8ECF-566B23A34720}">
      <dgm:prSet/>
      <dgm:spPr/>
      <dgm:t>
        <a:bodyPr/>
        <a:lstStyle/>
        <a:p>
          <a:endParaRPr lang="en-US"/>
        </a:p>
      </dgm:t>
    </dgm:pt>
    <dgm:pt modelId="{6E1E1B92-8B10-48D1-9AA6-C4EB1C1624AC}">
      <dgm:prSet/>
      <dgm:spPr/>
      <dgm:t>
        <a:bodyPr/>
        <a:lstStyle/>
        <a:p>
          <a:r>
            <a:rPr lang="en-AU"/>
            <a:t>Managing testing paths in a mock dataset.</a:t>
          </a:r>
          <a:endParaRPr lang="en-US"/>
        </a:p>
      </dgm:t>
    </dgm:pt>
    <dgm:pt modelId="{B55D4B06-7DA9-4407-8DD7-2332A1736D25}" type="parTrans" cxnId="{B9656FDC-5084-4F2F-9795-8E6768CBC849}">
      <dgm:prSet/>
      <dgm:spPr/>
      <dgm:t>
        <a:bodyPr/>
        <a:lstStyle/>
        <a:p>
          <a:endParaRPr lang="en-US"/>
        </a:p>
      </dgm:t>
    </dgm:pt>
    <dgm:pt modelId="{EED20584-81B9-4882-96DF-C4B33B8F6B95}" type="sibTrans" cxnId="{B9656FDC-5084-4F2F-9795-8E6768CBC849}">
      <dgm:prSet/>
      <dgm:spPr/>
      <dgm:t>
        <a:bodyPr/>
        <a:lstStyle/>
        <a:p>
          <a:endParaRPr lang="en-US"/>
        </a:p>
      </dgm:t>
    </dgm:pt>
    <dgm:pt modelId="{18D2E846-8A39-4496-939B-23D936A9E2D7}">
      <dgm:prSet/>
      <dgm:spPr/>
      <dgm:t>
        <a:bodyPr/>
        <a:lstStyle/>
        <a:p>
          <a:r>
            <a:rPr lang="en-AU"/>
            <a:t>Ensuring all test cases run automatically with consistent results.</a:t>
          </a:r>
          <a:endParaRPr lang="en-US"/>
        </a:p>
      </dgm:t>
    </dgm:pt>
    <dgm:pt modelId="{99C451A7-E7BF-4F38-8ACF-82AB60A8B69D}" type="parTrans" cxnId="{2C211E84-8959-44DA-A879-F9D178292ABD}">
      <dgm:prSet/>
      <dgm:spPr/>
      <dgm:t>
        <a:bodyPr/>
        <a:lstStyle/>
        <a:p>
          <a:endParaRPr lang="en-US"/>
        </a:p>
      </dgm:t>
    </dgm:pt>
    <dgm:pt modelId="{61375167-5055-4E17-A139-638B8BC784BE}" type="sibTrans" cxnId="{2C211E84-8959-44DA-A879-F9D178292ABD}">
      <dgm:prSet/>
      <dgm:spPr/>
      <dgm:t>
        <a:bodyPr/>
        <a:lstStyle/>
        <a:p>
          <a:endParaRPr lang="en-US"/>
        </a:p>
      </dgm:t>
    </dgm:pt>
    <dgm:pt modelId="{72600571-7894-4719-812E-CC45046507AA}">
      <dgm:prSet/>
      <dgm:spPr/>
      <dgm:t>
        <a:bodyPr/>
        <a:lstStyle/>
        <a:p>
          <a:r>
            <a:rPr lang="en-AU"/>
            <a:t>Reflection: Gained confidence in debugging, QA testing, and code analysis.</a:t>
          </a:r>
          <a:endParaRPr lang="en-US"/>
        </a:p>
      </dgm:t>
    </dgm:pt>
    <dgm:pt modelId="{CD1D86D3-9162-4770-8781-642DEB0C1A5E}" type="parTrans" cxnId="{72E87357-891E-45C3-AAA0-FC570E3EB8BD}">
      <dgm:prSet/>
      <dgm:spPr/>
      <dgm:t>
        <a:bodyPr/>
        <a:lstStyle/>
        <a:p>
          <a:endParaRPr lang="en-US"/>
        </a:p>
      </dgm:t>
    </dgm:pt>
    <dgm:pt modelId="{97A2355A-66B1-4ED5-86F8-D93FBF94DEC8}" type="sibTrans" cxnId="{72E87357-891E-45C3-AAA0-FC570E3EB8BD}">
      <dgm:prSet/>
      <dgm:spPr/>
      <dgm:t>
        <a:bodyPr/>
        <a:lstStyle/>
        <a:p>
          <a:endParaRPr lang="en-US"/>
        </a:p>
      </dgm:t>
    </dgm:pt>
    <dgm:pt modelId="{BA027207-810E-A44E-B729-D64D18B7054D}" type="pres">
      <dgm:prSet presAssocID="{69A00BD4-D887-4B58-BEFF-0A2D15E05631}" presName="matrix" presStyleCnt="0">
        <dgm:presLayoutVars>
          <dgm:chMax val="1"/>
          <dgm:dir/>
          <dgm:resizeHandles val="exact"/>
        </dgm:presLayoutVars>
      </dgm:prSet>
      <dgm:spPr/>
    </dgm:pt>
    <dgm:pt modelId="{6F3D264C-174C-9D4C-87DD-10FF02BC5A6A}" type="pres">
      <dgm:prSet presAssocID="{69A00BD4-D887-4B58-BEFF-0A2D15E05631}" presName="diamond" presStyleLbl="bgShp" presStyleIdx="0" presStyleCnt="1"/>
      <dgm:spPr/>
    </dgm:pt>
    <dgm:pt modelId="{CD855C59-1ECB-774F-9FAF-B9DF94539E02}" type="pres">
      <dgm:prSet presAssocID="{69A00BD4-D887-4B58-BEFF-0A2D15E0563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CBCB6ED-A6D2-6041-A500-326DD73518E3}" type="pres">
      <dgm:prSet presAssocID="{69A00BD4-D887-4B58-BEFF-0A2D15E0563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FBCED4E-D321-D642-8F72-C4107A8FEF3E}" type="pres">
      <dgm:prSet presAssocID="{69A00BD4-D887-4B58-BEFF-0A2D15E0563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162977B-7584-2949-8115-2E66AAAA2614}" type="pres">
      <dgm:prSet presAssocID="{69A00BD4-D887-4B58-BEFF-0A2D15E0563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A7AB51C-903F-3B40-88DA-96C20352C0B6}" type="presOf" srcId="{72600571-7894-4719-812E-CC45046507AA}" destId="{0162977B-7584-2949-8115-2E66AAAA2614}" srcOrd="0" destOrd="0" presId="urn:microsoft.com/office/officeart/2005/8/layout/matrix3"/>
    <dgm:cxn modelId="{5A04FD24-718F-8048-A7DD-E411A50C06FB}" type="presOf" srcId="{6E1E1B92-8B10-48D1-9AA6-C4EB1C1624AC}" destId="{4CBCB6ED-A6D2-6041-A500-326DD73518E3}" srcOrd="0" destOrd="0" presId="urn:microsoft.com/office/officeart/2005/8/layout/matrix3"/>
    <dgm:cxn modelId="{E24E1538-B31D-EC43-94DE-9643CFDBC814}" type="presOf" srcId="{202ACE71-1FDB-435D-AE14-16F55F7689C0}" destId="{CD855C59-1ECB-774F-9FAF-B9DF94539E02}" srcOrd="0" destOrd="0" presId="urn:microsoft.com/office/officeart/2005/8/layout/matrix3"/>
    <dgm:cxn modelId="{72E87357-891E-45C3-AAA0-FC570E3EB8BD}" srcId="{69A00BD4-D887-4B58-BEFF-0A2D15E05631}" destId="{72600571-7894-4719-812E-CC45046507AA}" srcOrd="3" destOrd="0" parTransId="{CD1D86D3-9162-4770-8781-642DEB0C1A5E}" sibTransId="{97A2355A-66B1-4ED5-86F8-D93FBF94DEC8}"/>
    <dgm:cxn modelId="{F230687A-0899-9142-85FF-D1A3493136AC}" type="presOf" srcId="{69A00BD4-D887-4B58-BEFF-0A2D15E05631}" destId="{BA027207-810E-A44E-B729-D64D18B7054D}" srcOrd="0" destOrd="0" presId="urn:microsoft.com/office/officeart/2005/8/layout/matrix3"/>
    <dgm:cxn modelId="{2C211E84-8959-44DA-A879-F9D178292ABD}" srcId="{69A00BD4-D887-4B58-BEFF-0A2D15E05631}" destId="{18D2E846-8A39-4496-939B-23D936A9E2D7}" srcOrd="2" destOrd="0" parTransId="{99C451A7-E7BF-4F38-8ACF-82AB60A8B69D}" sibTransId="{61375167-5055-4E17-A139-638B8BC784BE}"/>
    <dgm:cxn modelId="{B76526BC-E48E-4E75-8ECF-566B23A34720}" srcId="{69A00BD4-D887-4B58-BEFF-0A2D15E05631}" destId="{202ACE71-1FDB-435D-AE14-16F55F7689C0}" srcOrd="0" destOrd="0" parTransId="{D38D65A0-457B-468D-9323-569CBE67A77C}" sibTransId="{A237A056-9DCA-4D49-8D5E-C390CDF02BB4}"/>
    <dgm:cxn modelId="{B9656FDC-5084-4F2F-9795-8E6768CBC849}" srcId="{69A00BD4-D887-4B58-BEFF-0A2D15E05631}" destId="{6E1E1B92-8B10-48D1-9AA6-C4EB1C1624AC}" srcOrd="1" destOrd="0" parTransId="{B55D4B06-7DA9-4407-8DD7-2332A1736D25}" sibTransId="{EED20584-81B9-4882-96DF-C4B33B8F6B95}"/>
    <dgm:cxn modelId="{D42BF6DE-48E3-5A42-A3E1-BAC3EAFF1FBE}" type="presOf" srcId="{18D2E846-8A39-4496-939B-23D936A9E2D7}" destId="{9FBCED4E-D321-D642-8F72-C4107A8FEF3E}" srcOrd="0" destOrd="0" presId="urn:microsoft.com/office/officeart/2005/8/layout/matrix3"/>
    <dgm:cxn modelId="{DBBBD4B0-307C-E34D-A65B-5DB08E6C879A}" type="presParOf" srcId="{BA027207-810E-A44E-B729-D64D18B7054D}" destId="{6F3D264C-174C-9D4C-87DD-10FF02BC5A6A}" srcOrd="0" destOrd="0" presId="urn:microsoft.com/office/officeart/2005/8/layout/matrix3"/>
    <dgm:cxn modelId="{819F3F05-23FF-9F49-859A-80D8B3156FF1}" type="presParOf" srcId="{BA027207-810E-A44E-B729-D64D18B7054D}" destId="{CD855C59-1ECB-774F-9FAF-B9DF94539E02}" srcOrd="1" destOrd="0" presId="urn:microsoft.com/office/officeart/2005/8/layout/matrix3"/>
    <dgm:cxn modelId="{B41BE860-9EA4-F34B-BC64-88207D207C4B}" type="presParOf" srcId="{BA027207-810E-A44E-B729-D64D18B7054D}" destId="{4CBCB6ED-A6D2-6041-A500-326DD73518E3}" srcOrd="2" destOrd="0" presId="urn:microsoft.com/office/officeart/2005/8/layout/matrix3"/>
    <dgm:cxn modelId="{565EEDD3-4E2C-3943-B12D-D3B23E4AFB14}" type="presParOf" srcId="{BA027207-810E-A44E-B729-D64D18B7054D}" destId="{9FBCED4E-D321-D642-8F72-C4107A8FEF3E}" srcOrd="3" destOrd="0" presId="urn:microsoft.com/office/officeart/2005/8/layout/matrix3"/>
    <dgm:cxn modelId="{7D7156DD-223B-1045-BAE4-EE242F2A3CEE}" type="presParOf" srcId="{BA027207-810E-A44E-B729-D64D18B7054D}" destId="{0162977B-7584-2949-8115-2E66AAAA261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D532E-4A11-E745-BD6C-589C10CD7DAB}">
      <dsp:nvSpPr>
        <dsp:cNvPr id="0" name=""/>
        <dsp:cNvSpPr/>
      </dsp:nvSpPr>
      <dsp:spPr>
        <a:xfrm>
          <a:off x="0" y="659936"/>
          <a:ext cx="4358346" cy="4358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4500" b="1" kern="1200"/>
            <a:t>All tests passed successfully, confirming</a:t>
          </a:r>
          <a:r>
            <a:rPr lang="en-AU" sz="4500" kern="1200"/>
            <a:t>:</a:t>
          </a:r>
          <a:endParaRPr lang="en-US" sz="4500" kern="120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3500" kern="1200"/>
            <a:t>Reliable logic</a:t>
          </a:r>
          <a:endParaRPr lang="en-US" sz="3500" kern="120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3500" kern="1200"/>
            <a:t>Correct data handling</a:t>
          </a:r>
          <a:endParaRPr lang="en-US" sz="3500" kern="120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3500" kern="1200"/>
            <a:t>Error-free input management</a:t>
          </a:r>
          <a:endParaRPr lang="en-US" sz="3500" kern="1200"/>
        </a:p>
      </dsp:txBody>
      <dsp:txXfrm>
        <a:off x="0" y="659936"/>
        <a:ext cx="4358346" cy="43583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3D264C-174C-9D4C-87DD-10FF02BC5A6A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55C59-1ECB-774F-9FAF-B9DF94539E02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Handling missing or malformed routes.</a:t>
          </a:r>
          <a:endParaRPr lang="en-US" sz="1900" kern="1200"/>
        </a:p>
      </dsp:txBody>
      <dsp:txXfrm>
        <a:off x="590191" y="770569"/>
        <a:ext cx="1821339" cy="1821339"/>
      </dsp:txXfrm>
    </dsp:sp>
    <dsp:sp modelId="{4CBCB6ED-A6D2-6041-A500-326DD73518E3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Managing testing paths in a mock dataset.</a:t>
          </a:r>
          <a:endParaRPr lang="en-US" sz="1900" kern="1200"/>
        </a:p>
      </dsp:txBody>
      <dsp:txXfrm>
        <a:off x="2763852" y="770569"/>
        <a:ext cx="1821339" cy="1821339"/>
      </dsp:txXfrm>
    </dsp:sp>
    <dsp:sp modelId="{9FBCED4E-D321-D642-8F72-C4107A8FEF3E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Ensuring all test cases run automatically with consistent results.</a:t>
          </a:r>
          <a:endParaRPr lang="en-US" sz="1900" kern="1200"/>
        </a:p>
      </dsp:txBody>
      <dsp:txXfrm>
        <a:off x="590191" y="2944231"/>
        <a:ext cx="1821339" cy="1821339"/>
      </dsp:txXfrm>
    </dsp:sp>
    <dsp:sp modelId="{0162977B-7584-2949-8115-2E66AAAA2614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Reflection: Gained confidence in debugging, QA testing, and code analysis.</a:t>
          </a:r>
          <a:endParaRPr lang="en-US" sz="1900" kern="1200"/>
        </a:p>
      </dsp:txBody>
      <dsp:txXfrm>
        <a:off x="2763852" y="2944231"/>
        <a:ext cx="1821339" cy="1821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AU" dirty="0"/>
              <a:t>Automated Route Testing –MapQuest Mock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/>
            <a:r>
              <a:rPr dirty="0"/>
              <a:t>Team Info – Aayush </a:t>
            </a:r>
            <a:r>
              <a:rPr dirty="0" err="1"/>
              <a:t>Humagain</a:t>
            </a:r>
            <a:r>
              <a:rPr dirty="0"/>
              <a:t>, Maria Akter, Carl </a:t>
            </a:r>
            <a:r>
              <a:rPr dirty="0" err="1"/>
              <a:t>Jomen</a:t>
            </a:r>
            <a:endParaRPr lang="en-AU" dirty="0"/>
          </a:p>
        </p:txBody>
      </p:sp>
      <p:pic>
        <p:nvPicPr>
          <p:cNvPr id="5" name="Picture 4" descr="Machine in a laboratory">
            <a:extLst>
              <a:ext uri="{FF2B5EF4-FFF2-40B4-BE49-F238E27FC236}">
                <a16:creationId xmlns:a16="http://schemas.microsoft.com/office/drawing/2014/main" id="{70D61EC9-8ECF-B052-BCE0-BA9D278CB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71" r="29231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AU" sz="3500"/>
              <a:t>Project Overview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AU" sz="1700" b="1" dirty="0"/>
              <a:t>Goal: </a:t>
            </a:r>
            <a:r>
              <a:rPr lang="en-AU" sz="1700" dirty="0"/>
              <a:t>Build a lightweight, offline route calculator for NSW.</a:t>
            </a:r>
          </a:p>
          <a:p>
            <a:r>
              <a:rPr lang="en-AU" sz="1700" b="1" dirty="0"/>
              <a:t>Purpose: </a:t>
            </a:r>
            <a:r>
              <a:rPr lang="en-AU" sz="1700" dirty="0"/>
              <a:t>Simulate MapQuest with distance and travel time estimation.</a:t>
            </a:r>
          </a:p>
          <a:p>
            <a:r>
              <a:rPr lang="en-AU" sz="1700" b="1" dirty="0"/>
              <a:t>Constraints: </a:t>
            </a:r>
            <a:r>
              <a:rPr lang="en-AU" sz="1700" dirty="0"/>
              <a:t>No API keys, no internet, mock data only.</a:t>
            </a:r>
          </a:p>
          <a:p>
            <a:r>
              <a:rPr lang="en-AU" sz="1700" b="1" dirty="0"/>
              <a:t>Outcome: </a:t>
            </a:r>
            <a:r>
              <a:rPr lang="en-AU" sz="1700" dirty="0"/>
              <a:t>Fast, cost-free, and functional offline route testing tool.</a:t>
            </a:r>
          </a:p>
        </p:txBody>
      </p:sp>
      <p:pic>
        <p:nvPicPr>
          <p:cNvPr id="5" name="Picture 4" descr="Calculator and folders">
            <a:extLst>
              <a:ext uri="{FF2B5EF4-FFF2-40B4-BE49-F238E27FC236}">
                <a16:creationId xmlns:a16="http://schemas.microsoft.com/office/drawing/2014/main" id="{5084314E-AA99-F582-2027-811219E573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72" r="37810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D98C19-AA98-E257-AC5C-0AD9FEA5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753B1-5570-0021-3CE5-4612EF88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System Design &amp; Logic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DE3CF-501B-2A09-3DA1-3E3956FEA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AU" b="1" dirty="0"/>
              <a:t>How It Works:</a:t>
            </a:r>
            <a:endParaRPr lang="en-AU" dirty="0"/>
          </a:p>
          <a:p>
            <a:r>
              <a:rPr lang="en-AU" dirty="0"/>
              <a:t>User enters start and destination.</a:t>
            </a:r>
          </a:p>
          <a:p>
            <a:r>
              <a:rPr lang="en-AU" dirty="0"/>
              <a:t>Program checks NSW dataset for valid route.</a:t>
            </a:r>
          </a:p>
          <a:p>
            <a:r>
              <a:rPr lang="en-AU" dirty="0"/>
              <a:t>If route exists → calculates: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b="1" i="1" dirty="0"/>
              <a:t>Travel Time = Distance / 80 km/h</a:t>
            </a:r>
          </a:p>
          <a:p>
            <a:r>
              <a:rPr lang="en-AU" dirty="0"/>
              <a:t>Displays Distance &amp; Estimated Time.</a:t>
            </a:r>
          </a:p>
          <a:p>
            <a:pPr marL="0" indent="0">
              <a:buNone/>
            </a:pPr>
            <a:r>
              <a:rPr lang="en-AU" b="1" dirty="0"/>
              <a:t>Technical Features:</a:t>
            </a:r>
          </a:p>
          <a:p>
            <a:r>
              <a:rPr lang="en-AU" dirty="0"/>
              <a:t>Written in Python</a:t>
            </a:r>
          </a:p>
          <a:p>
            <a:r>
              <a:rPr lang="en-AU" dirty="0"/>
              <a:t>Works fully offline</a:t>
            </a:r>
          </a:p>
          <a:p>
            <a:r>
              <a:rPr lang="en-AU" dirty="0"/>
              <a:t>Uses mock dataset (dictionary lookup)</a:t>
            </a:r>
          </a:p>
          <a:p>
            <a:r>
              <a:rPr lang="en-AU" dirty="0"/>
              <a:t>No dependency on Map APIs</a:t>
            </a:r>
          </a:p>
        </p:txBody>
      </p:sp>
    </p:spTree>
    <p:extLst>
      <p:ext uri="{BB962C8B-B14F-4D97-AF65-F5344CB8AC3E}">
        <p14:creationId xmlns:p14="http://schemas.microsoft.com/office/powerpoint/2010/main" val="384293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753C7-5A92-C6C6-1060-115FA34E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Design &amp; Logic (Cont.)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81125989-A244-7CFE-F260-FDC035949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0930" y="0"/>
            <a:ext cx="4441563" cy="672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8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4213D-BE6F-EF7F-ABC7-C4E033C7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AU" sz="3500"/>
              <a:t>Technical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2BD24-5479-1B31-1ABE-43AF982F6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AU" sz="1700"/>
              <a:t>Developed strong understanding of data validation and input handling.</a:t>
            </a:r>
          </a:p>
          <a:p>
            <a:r>
              <a:rPr lang="en-AU" sz="1700"/>
              <a:t>Enhanced skills in problem solving with limited resources.</a:t>
            </a:r>
          </a:p>
          <a:p>
            <a:r>
              <a:rPr lang="en-AU" sz="1700"/>
              <a:t>Gained hands-on experience in GitHub version control and code reviews.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C63CC512-35A9-69A9-D0A6-3DF63163F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2" r="2358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3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95101-562B-E656-D129-A65A0C26E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AU" sz="3700">
                <a:solidFill>
                  <a:srgbClr val="FFFFFF"/>
                </a:solidFill>
              </a:rPr>
              <a:t>Automated Testing Overview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7552FB6-D672-D13E-1ED7-FC9A7AD26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AU" sz="3000" b="1"/>
              <a:t>Framework: </a:t>
            </a:r>
            <a:r>
              <a:rPr lang="en-AU" sz="3000"/>
              <a:t>Python’s </a:t>
            </a:r>
            <a:r>
              <a:rPr lang="en-AU" sz="3000" b="1" i="1" err="1"/>
              <a:t>unittest</a:t>
            </a:r>
            <a:endParaRPr lang="en-AU" sz="3000" b="1" i="1"/>
          </a:p>
          <a:p>
            <a:pPr marL="0" indent="0">
              <a:lnSpc>
                <a:spcPct val="90000"/>
              </a:lnSpc>
              <a:buNone/>
            </a:pPr>
            <a:r>
              <a:rPr lang="en-AU" sz="3000" b="1"/>
              <a:t>Objective: </a:t>
            </a:r>
            <a:r>
              <a:rPr lang="en-AU" sz="3000"/>
              <a:t>Ensure accuracy and reliability of distance logic.</a:t>
            </a:r>
          </a:p>
          <a:p>
            <a:pPr marL="0" indent="0">
              <a:lnSpc>
                <a:spcPct val="90000"/>
              </a:lnSpc>
              <a:buNone/>
            </a:pPr>
            <a:endParaRPr lang="en-AU" sz="3000"/>
          </a:p>
          <a:p>
            <a:pPr marL="0" indent="0">
              <a:lnSpc>
                <a:spcPct val="90000"/>
              </a:lnSpc>
              <a:buNone/>
            </a:pPr>
            <a:r>
              <a:rPr lang="en-AU" sz="3000" b="1"/>
              <a:t>Three Test Cases:</a:t>
            </a:r>
            <a:endParaRPr lang="en-AU" sz="3000"/>
          </a:p>
          <a:p>
            <a:pPr>
              <a:lnSpc>
                <a:spcPct val="90000"/>
              </a:lnSpc>
            </a:pPr>
            <a:r>
              <a:rPr lang="en-AU" sz="3000"/>
              <a:t>Valid Route → Sydney → Newcastle</a:t>
            </a:r>
          </a:p>
          <a:p>
            <a:pPr>
              <a:lnSpc>
                <a:spcPct val="90000"/>
              </a:lnSpc>
            </a:pPr>
            <a:r>
              <a:rPr lang="en-AU" sz="3000"/>
              <a:t>Invalid Route → </a:t>
            </a:r>
            <a:r>
              <a:rPr lang="en-AU" sz="3000" err="1"/>
              <a:t>Nonexistent</a:t>
            </a:r>
            <a:r>
              <a:rPr lang="en-AU" sz="3000"/>
              <a:t> Path</a:t>
            </a:r>
          </a:p>
          <a:p>
            <a:pPr>
              <a:lnSpc>
                <a:spcPct val="90000"/>
              </a:lnSpc>
            </a:pPr>
            <a:r>
              <a:rPr lang="en-AU" sz="3000"/>
              <a:t>Unknown Route → Empty Input</a:t>
            </a:r>
          </a:p>
        </p:txBody>
      </p:sp>
    </p:spTree>
    <p:extLst>
      <p:ext uri="{BB962C8B-B14F-4D97-AF65-F5344CB8AC3E}">
        <p14:creationId xmlns:p14="http://schemas.microsoft.com/office/powerpoint/2010/main" val="211863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Test Results &amp; Validation</a:t>
            </a:r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57C937-AF7E-92E2-77BE-04BC7F6A34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963637"/>
              </p:ext>
            </p:extLst>
          </p:nvPr>
        </p:nvGraphicFramePr>
        <p:xfrm>
          <a:off x="628650" y="2048821"/>
          <a:ext cx="7886702" cy="3855520"/>
        </p:xfrm>
        <a:graphic>
          <a:graphicData uri="http://schemas.openxmlformats.org/drawingml/2006/table">
            <a:tbl>
              <a:tblPr/>
              <a:tblGrid>
                <a:gridCol w="1968283">
                  <a:extLst>
                    <a:ext uri="{9D8B030D-6E8A-4147-A177-3AD203B41FA5}">
                      <a16:colId xmlns:a16="http://schemas.microsoft.com/office/drawing/2014/main" val="3424724427"/>
                    </a:ext>
                  </a:extLst>
                </a:gridCol>
                <a:gridCol w="1950193">
                  <a:extLst>
                    <a:ext uri="{9D8B030D-6E8A-4147-A177-3AD203B41FA5}">
                      <a16:colId xmlns:a16="http://schemas.microsoft.com/office/drawing/2014/main" val="3908113058"/>
                    </a:ext>
                  </a:extLst>
                </a:gridCol>
                <a:gridCol w="1895920">
                  <a:extLst>
                    <a:ext uri="{9D8B030D-6E8A-4147-A177-3AD203B41FA5}">
                      <a16:colId xmlns:a16="http://schemas.microsoft.com/office/drawing/2014/main" val="398415594"/>
                    </a:ext>
                  </a:extLst>
                </a:gridCol>
                <a:gridCol w="2072306">
                  <a:extLst>
                    <a:ext uri="{9D8B030D-6E8A-4147-A177-3AD203B41FA5}">
                      <a16:colId xmlns:a16="http://schemas.microsoft.com/office/drawing/2014/main" val="838407754"/>
                    </a:ext>
                  </a:extLst>
                </a:gridCol>
              </a:tblGrid>
              <a:tr h="96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b="1"/>
                        <a:t>Test Type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b="1"/>
                        <a:t>Input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b="1"/>
                        <a:t>Expected Output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 b="1"/>
                        <a:t>Result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811"/>
                  </a:ext>
                </a:extLst>
              </a:tr>
              <a:tr h="96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Valid Route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Sydney → Newcastle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160 km, 2 hrs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✅ Passed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195423"/>
                  </a:ext>
                </a:extLst>
              </a:tr>
              <a:tr h="96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Invalid Route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TownA → TownB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Error message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✅ Passed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165864"/>
                  </a:ext>
                </a:extLst>
              </a:tr>
              <a:tr h="963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Empty Input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None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“Invalid Input”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600"/>
                        <a:t>✅ Passed</a:t>
                      </a:r>
                    </a:p>
                  </a:txBody>
                  <a:tcPr marL="130254" marR="130254" marT="65127" marB="651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135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8EAD6-C801-E74C-229B-63F82124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6559E1-E837-31E9-BD93-912274356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3300">
                <a:solidFill>
                  <a:srgbClr val="FFFFFF"/>
                </a:solidFill>
              </a:rPr>
              <a:t>Test Results &amp; Validation (Cont.)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609A4578-7857-3922-29F3-452C6DD462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09182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615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AU" sz="4000"/>
              <a:t>Challenges &amp; Problem Solving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51450A-D3E9-67AD-E095-2F517F7060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924675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AU" sz="2800">
                <a:solidFill>
                  <a:srgbClr val="FFFFFF"/>
                </a:solidFill>
              </a:rPr>
              <a:t>Program Demonstration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AU" sz="1700" b="1"/>
              <a:t>Demo Example:</a:t>
            </a:r>
          </a:p>
          <a:p>
            <a:pPr lvl="1">
              <a:lnSpc>
                <a:spcPct val="90000"/>
              </a:lnSpc>
            </a:pPr>
            <a:r>
              <a:rPr lang="en-AU" sz="1700" b="1"/>
              <a:t>Input → Sydney → Newcastle</a:t>
            </a:r>
          </a:p>
          <a:p>
            <a:pPr marL="0" indent="0">
              <a:lnSpc>
                <a:spcPct val="90000"/>
              </a:lnSpc>
              <a:buNone/>
            </a:pPr>
            <a:endParaRPr lang="en-AU" sz="1700"/>
          </a:p>
          <a:p>
            <a:pPr marL="0" indent="0">
              <a:lnSpc>
                <a:spcPct val="90000"/>
              </a:lnSpc>
              <a:buNone/>
            </a:pPr>
            <a:r>
              <a:rPr lang="en-AU" sz="1700" b="1"/>
              <a:t>Output:</a:t>
            </a:r>
          </a:p>
          <a:p>
            <a:pPr lvl="1">
              <a:lnSpc>
                <a:spcPct val="90000"/>
              </a:lnSpc>
            </a:pPr>
            <a:r>
              <a:rPr lang="en-AU" sz="1700" b="1"/>
              <a:t>Distance: </a:t>
            </a:r>
            <a:r>
              <a:rPr lang="en-AU" sz="1700"/>
              <a:t>160 km  </a:t>
            </a:r>
          </a:p>
          <a:p>
            <a:pPr lvl="1">
              <a:lnSpc>
                <a:spcPct val="90000"/>
              </a:lnSpc>
            </a:pPr>
            <a:r>
              <a:rPr lang="en-AU" sz="1700" b="1"/>
              <a:t>Estimated Time: </a:t>
            </a:r>
            <a:r>
              <a:rPr lang="en-AU" sz="1700"/>
              <a:t>2 hours</a:t>
            </a:r>
          </a:p>
          <a:p>
            <a:pPr marL="0" indent="0">
              <a:lnSpc>
                <a:spcPct val="90000"/>
              </a:lnSpc>
              <a:buNone/>
            </a:pPr>
            <a:endParaRPr lang="en-AU" sz="1700"/>
          </a:p>
          <a:p>
            <a:pPr marL="0" indent="0">
              <a:lnSpc>
                <a:spcPct val="90000"/>
              </a:lnSpc>
              <a:buNone/>
            </a:pPr>
            <a:r>
              <a:rPr lang="en-AU" sz="1700" b="1"/>
              <a:t>Offline Execution:</a:t>
            </a:r>
            <a:endParaRPr lang="en-AU" sz="1700"/>
          </a:p>
          <a:p>
            <a:pPr>
              <a:lnSpc>
                <a:spcPct val="90000"/>
              </a:lnSpc>
            </a:pPr>
            <a:r>
              <a:rPr lang="en-AU" sz="1700"/>
              <a:t>Instant processing</a:t>
            </a:r>
          </a:p>
          <a:p>
            <a:pPr>
              <a:lnSpc>
                <a:spcPct val="90000"/>
              </a:lnSpc>
            </a:pPr>
            <a:r>
              <a:rPr lang="en-AU" sz="1700"/>
              <a:t>No API key / No internet</a:t>
            </a:r>
          </a:p>
          <a:p>
            <a:pPr>
              <a:lnSpc>
                <a:spcPct val="90000"/>
              </a:lnSpc>
            </a:pPr>
            <a:r>
              <a:rPr lang="en-AU" sz="1700"/>
              <a:t>Reproducible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BEDF6-842A-5629-FAF1-BC555443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3700"/>
              <a:t>Team Collaboration &amp; Communication</a:t>
            </a:r>
            <a:endParaRPr lang="en-US" sz="37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50E5B-13D8-FDFE-98FF-74F2C36FB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b="1"/>
              <a:t>Tools Used: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 b="1"/>
              <a:t>GitHub: </a:t>
            </a:r>
            <a:r>
              <a:rPr lang="en-US" sz="2000"/>
              <a:t>Version control and issue tracking</a:t>
            </a:r>
          </a:p>
          <a:p>
            <a:pPr>
              <a:lnSpc>
                <a:spcPct val="90000"/>
              </a:lnSpc>
            </a:pPr>
            <a:r>
              <a:rPr lang="en-US" sz="2000" b="1"/>
              <a:t>Google Meet / Slack: </a:t>
            </a:r>
            <a:r>
              <a:rPr lang="en-US" sz="2000"/>
              <a:t>Communication</a:t>
            </a:r>
          </a:p>
          <a:p>
            <a:pPr>
              <a:lnSpc>
                <a:spcPct val="90000"/>
              </a:lnSpc>
            </a:pPr>
            <a:r>
              <a:rPr lang="en-US" sz="2000" b="1"/>
              <a:t>Python: </a:t>
            </a:r>
            <a:r>
              <a:rPr lang="en-US" sz="2000"/>
              <a:t>Shared code and testing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/>
          </a:p>
          <a:p>
            <a:pPr marL="0" indent="0">
              <a:lnSpc>
                <a:spcPct val="90000"/>
              </a:lnSpc>
              <a:buNone/>
            </a:pPr>
            <a:r>
              <a:rPr lang="en-US" sz="2000" b="1"/>
              <a:t>Team Reflection:</a:t>
            </a:r>
            <a:endParaRPr lang="en-US" sz="2000"/>
          </a:p>
          <a:p>
            <a:pPr>
              <a:lnSpc>
                <a:spcPct val="90000"/>
              </a:lnSpc>
            </a:pPr>
            <a:r>
              <a:rPr lang="en-US" sz="2000" b="1"/>
              <a:t>Aayush</a:t>
            </a:r>
            <a:r>
              <a:rPr lang="en-US" sz="2000"/>
              <a:t> → Core logic &amp; repository setup</a:t>
            </a:r>
          </a:p>
          <a:p>
            <a:pPr>
              <a:lnSpc>
                <a:spcPct val="90000"/>
              </a:lnSpc>
            </a:pPr>
            <a:r>
              <a:rPr lang="en-US" sz="2000" b="1"/>
              <a:t>Maria</a:t>
            </a:r>
            <a:r>
              <a:rPr lang="en-US" sz="2000"/>
              <a:t> → Unit testing &amp; debugging</a:t>
            </a:r>
          </a:p>
          <a:p>
            <a:pPr>
              <a:lnSpc>
                <a:spcPct val="90000"/>
              </a:lnSpc>
            </a:pPr>
            <a:r>
              <a:rPr lang="en-US" sz="2000" b="1"/>
              <a:t>Carl</a:t>
            </a:r>
            <a:r>
              <a:rPr lang="en-US" sz="2000"/>
              <a:t> → Demo integration &amp; presentation preparation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99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16C3E-71A7-AAC1-8F02-94804305E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BD121-ECA6-0A75-9349-B9E3A630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3100"/>
              <a:t>Team Collaboration &amp; Communication (Cont.)</a:t>
            </a:r>
            <a:endParaRPr lang="en-US" sz="31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2B709-34B5-7A27-73AA-E9045FE51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Collaboration Outcomes: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Improved teamwork and time management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Balanced workload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Learned agile coordination for academic projects</a:t>
            </a: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9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F14B8-D0BA-DF60-B931-80CA4B17C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4000"/>
              <a:t>Future Enhancements &amp; Reflection</a:t>
            </a:r>
            <a:endParaRPr lang="en-US" sz="4000"/>
          </a:p>
        </p:txBody>
      </p:sp>
      <p:pic>
        <p:nvPicPr>
          <p:cNvPr id="5" name="Picture 4" descr="Person pointing on a map">
            <a:extLst>
              <a:ext uri="{FF2B5EF4-FFF2-40B4-BE49-F238E27FC236}">
                <a16:creationId xmlns:a16="http://schemas.microsoft.com/office/drawing/2014/main" id="{9FC4B4AF-9C7A-DFF4-A59A-948DC832DB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23" r="39078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E5173-1699-4D70-6342-4D8A763E5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Integrate real map API (OpenStreetMap).</a:t>
            </a:r>
          </a:p>
          <a:p>
            <a:r>
              <a:rPr lang="en-US" sz="1900"/>
              <a:t>Add GUI (Tkinter or PyQt).</a:t>
            </a:r>
          </a:p>
          <a:p>
            <a:r>
              <a:rPr lang="en-US" sz="1900"/>
              <a:t>Implement auto-suggest for place names.</a:t>
            </a:r>
          </a:p>
          <a:p>
            <a:r>
              <a:rPr lang="en-US" sz="1900"/>
              <a:t>Introduce real-time data like traffic conditions.</a:t>
            </a:r>
          </a:p>
          <a:p>
            <a:r>
              <a:rPr lang="en-US" sz="1900"/>
              <a:t>Future academic scope: expand dataset and use AI for route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936718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AD4A9-3870-8C94-EEB9-FF82565DD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Academic Impact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11CF-9552-C6C9-E5E1-2F1705916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Demonstrates knowledge of:</a:t>
            </a:r>
            <a:endParaRPr lang="en-US" b="1"/>
          </a:p>
          <a:p>
            <a:pPr lvl="1">
              <a:lnSpc>
                <a:spcPct val="90000"/>
              </a:lnSpc>
            </a:pPr>
            <a:r>
              <a:rPr lang="en-US" dirty="0"/>
              <a:t>Software development lifecycle (SDLC)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dirty="0"/>
              <a:t>Testing methodologies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dirty="0"/>
              <a:t>Collaboration &amp; documentation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b="1" dirty="0"/>
              <a:t>Aligns with capstone outcomes:</a:t>
            </a:r>
            <a:endParaRPr lang="en-US" b="1"/>
          </a:p>
          <a:p>
            <a:pPr lvl="1">
              <a:lnSpc>
                <a:spcPct val="90000"/>
              </a:lnSpc>
            </a:pPr>
            <a:r>
              <a:rPr lang="en-US" dirty="0"/>
              <a:t>Critical thinking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dirty="0"/>
              <a:t>Communication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dirty="0"/>
              <a:t>Technical competency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84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5CCB8-E4E5-2D13-CF75-666A88AAF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950" y="1939159"/>
            <a:ext cx="5733470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Closing &amp; 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4F368-F568-3D16-E372-56A52FE83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950" y="4782320"/>
            <a:ext cx="5733470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GitHub: </a:t>
            </a: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https://github.com/UserJomen/MapQuest-Enhancement-TeamInfo.git</a:t>
            </a:r>
          </a:p>
        </p:txBody>
      </p:sp>
    </p:spTree>
    <p:extLst>
      <p:ext uri="{BB962C8B-B14F-4D97-AF65-F5344CB8AC3E}">
        <p14:creationId xmlns:p14="http://schemas.microsoft.com/office/powerpoint/2010/main" val="3041682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icky notes with question marks">
            <a:extLst>
              <a:ext uri="{FF2B5EF4-FFF2-40B4-BE49-F238E27FC236}">
                <a16:creationId xmlns:a16="http://schemas.microsoft.com/office/drawing/2014/main" id="{195D4D14-5F4B-3372-2BC7-03B387295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2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91578" y="838201"/>
            <a:ext cx="532362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68E1F-2C19-AA1C-52C8-D3CADBCA3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104" y="1924619"/>
            <a:ext cx="4155791" cy="165537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80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EDE1-7241-C627-4F5C-162F22F43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0314" y="3668285"/>
            <a:ext cx="3323371" cy="13379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/>
              <a:t>Question?</a:t>
            </a:r>
          </a:p>
        </p:txBody>
      </p:sp>
    </p:spTree>
    <p:extLst>
      <p:ext uri="{BB962C8B-B14F-4D97-AF65-F5344CB8AC3E}">
        <p14:creationId xmlns:p14="http://schemas.microsoft.com/office/powerpoint/2010/main" val="2999696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513</Words>
  <Application>Microsoft Macintosh PowerPoint</Application>
  <PresentationFormat>On-screen Show (4:3)</PresentationFormat>
  <Paragraphs>105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Automated Route Testing –MapQuest Mock API</vt:lpstr>
      <vt:lpstr>Project Overview &amp; Purpose</vt:lpstr>
      <vt:lpstr>System Design &amp; Logic</vt:lpstr>
      <vt:lpstr>System Design &amp; Logic (Cont.)</vt:lpstr>
      <vt:lpstr>Technical Reflection</vt:lpstr>
      <vt:lpstr>Automated Testing Overview</vt:lpstr>
      <vt:lpstr>Test Results &amp; Validation</vt:lpstr>
      <vt:lpstr>Test Results &amp; Validation (Cont.)</vt:lpstr>
      <vt:lpstr>Challenges &amp; Problem Solving</vt:lpstr>
      <vt:lpstr>Program Demonstration</vt:lpstr>
      <vt:lpstr>Team Collaboration &amp; Communication</vt:lpstr>
      <vt:lpstr>Team Collaboration &amp; Communication (Cont.)</vt:lpstr>
      <vt:lpstr>Future Enhancements &amp; Reflection</vt:lpstr>
      <vt:lpstr>Academic Impact</vt:lpstr>
      <vt:lpstr>Closing &amp; Acknowledgment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Akter, Sohany</cp:lastModifiedBy>
  <cp:revision>3</cp:revision>
  <dcterms:created xsi:type="dcterms:W3CDTF">2013-01-27T09:14:16Z</dcterms:created>
  <dcterms:modified xsi:type="dcterms:W3CDTF">2025-11-02T08:36:50Z</dcterms:modified>
  <cp:category/>
</cp:coreProperties>
</file>